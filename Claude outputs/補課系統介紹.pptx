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F2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4A1C1D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4206240"/>
            <a:ext cx="2743200" cy="2743200"/>
          </a:xfrm>
          <a:prstGeom prst="ellipse">
            <a:avLst/>
          </a:prstGeom>
          <a:solidFill>
            <a:srgbClr val="4A1C1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1005840" cy="100584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5" name="Image 0" descr="/tmp/claude-0/-home-claude/b5c0b2d8-6b96-57f2-ae87-5207f6463912/scratchpad/ppt_build/icons/gra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636776"/>
            <a:ext cx="566928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普宜精舍　出缺勤管理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35808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補課系統介紹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97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資料驅動．自動化同步．三種視角一目了然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989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9 月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6809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為什麼需要這套系統？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過去以 Excel／紙本管理出缺勤，隨學員增加，行政負擔也跟著變重：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E9E6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2286000"/>
            <a:ext cx="548640" cy="54864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7" name="Image 0" descr="/tmp/claude-0/-home-claude/b5c0b2d8-6b96-57f2-ae87-5207f6463912/scratchpad/ppt_build/icons/exce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957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" y="2953512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資料分散混亂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3355848"/>
            <a:ext cx="4745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各班各自一份 Excel，跨班調課時對不起來。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126480" y="20574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E9E6"/>
          </a:solidFill>
          <a:ln/>
        </p:spPr>
      </p:sp>
      <p:sp>
        <p:nvSpPr>
          <p:cNvPr id="11" name="Shape 8"/>
          <p:cNvSpPr/>
          <p:nvPr/>
        </p:nvSpPr>
        <p:spPr>
          <a:xfrm>
            <a:off x="6382512" y="2286000"/>
            <a:ext cx="548640" cy="54864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2" name="Image 1" descr="/tmp/claude-0/-home-claude/b5c0b2d8-6b96-57f2-ae87-5207f6463912/scratchpad/ppt_build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957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82512" y="2953512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人工核對耗時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382512" y="3355848"/>
            <a:ext cx="4745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缺課補課要逐筆核對，接近結業特別緊張。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02920" y="44348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E9E6"/>
          </a:solidFill>
          <a:ln/>
        </p:spPr>
      </p:sp>
      <p:sp>
        <p:nvSpPr>
          <p:cNvPr id="16" name="Shape 12"/>
          <p:cNvSpPr/>
          <p:nvPr/>
        </p:nvSpPr>
        <p:spPr>
          <a:xfrm>
            <a:off x="758952" y="4663440"/>
            <a:ext cx="548640" cy="54864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7" name="Image 2" descr="/tmp/claude-0/-home-claude/b5c0b2d8-6b96-57f2-ae87-5207f6463912/scratchpad/ppt_build/icons/wa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7316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58952" y="5330952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看不到即時風險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758952" y="5733288"/>
            <a:ext cx="4745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誰快沒辦法結業，常到最後一堂才發現。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6126480" y="44348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E9E6"/>
          </a:solidFill>
          <a:ln/>
        </p:spPr>
      </p:sp>
      <p:sp>
        <p:nvSpPr>
          <p:cNvPr id="21" name="Shape 16"/>
          <p:cNvSpPr/>
          <p:nvPr/>
        </p:nvSpPr>
        <p:spPr>
          <a:xfrm>
            <a:off x="6382512" y="4663440"/>
            <a:ext cx="548640" cy="54864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22" name="Image 3" descr="/tmp/claude-0/-home-claude/b5c0b2d8-6b96-57f2-ae87-5207f6463912/scratchpad/ppt_build/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77316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382512" y="5330952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學員無從查詢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6382512" y="5733288"/>
            <a:ext cx="4745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只能被動等通知，無法主動查自己進度。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系統總覽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6809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資料怎麼跑：一次輸入，三邊同步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6F2B2C"/>
            </a:solidFill>
            <a:prstDash val="solid"/>
          </a:ln>
        </p:spPr>
      </p:sp>
      <p:pic>
        <p:nvPicPr>
          <p:cNvPr id="5" name="Image 0" descr="/tmp/claude-0/-home-claude/b5c0b2d8-6b96-57f2-ae87-5207f6463912/scratchpad/ppt_build/icons/qrcode_mar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57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37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刷卡機／現場點名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14800" y="2331720"/>
            <a:ext cx="777240" cy="9144"/>
          </a:xfrm>
          <a:prstGeom prst="line">
            <a:avLst/>
          </a:prstGeom>
          <a:noFill/>
          <a:ln w="28575">
            <a:solidFill>
              <a:srgbClr val="6F2B2C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892040" y="173736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6F2B2C"/>
          </a:solidFill>
          <a:ln/>
          <a:effectLst>
            <a:outerShdw sx="100000" sy="100000" kx="0" ky="0" algn="bl" rotWithShape="0" blurRad="101600" dist="25400" dir="5400000">
              <a:srgbClr val="3A2A28">
                <a:alpha val="30000"/>
              </a:srgbClr>
            </a:outerShdw>
          </a:effectLst>
        </p:spPr>
      </p:sp>
      <p:pic>
        <p:nvPicPr>
          <p:cNvPr id="9" name="Image 1" descr="/tmp/claude-0/-home-claude/b5c0b2d8-6b96-57f2-ae87-5207f6463912/scratchpad/ppt_build/icons/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06440" y="17373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自動同步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（Supabase 資料庫）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 flipH="1">
            <a:off x="2163928" y="2926080"/>
            <a:ext cx="4556912" cy="594360"/>
          </a:xfrm>
          <a:prstGeom prst="line">
            <a:avLst/>
          </a:prstGeom>
          <a:noFill/>
          <a:ln w="22225">
            <a:solidFill>
              <a:srgbClr val="B98A87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26568" y="352044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4E9E6"/>
          </a:solidFill>
          <a:ln w="12700">
            <a:solidFill>
              <a:srgbClr val="6F2B2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798168" y="3721608"/>
            <a:ext cx="731520" cy="73152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4" name="Image 2" descr="/tmp/claude-0/-home-claude/b5c0b2d8-6b96-57f2-ae87-5207f6463912/scratchpad/ppt_build/icons/deskto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328" y="38587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6568" y="45262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後台管理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（精舍）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 flipH="1">
            <a:off x="6095848" y="2926080"/>
            <a:ext cx="624992" cy="594360"/>
          </a:xfrm>
          <a:prstGeom prst="line">
            <a:avLst/>
          </a:prstGeom>
          <a:noFill/>
          <a:ln w="22225">
            <a:solidFill>
              <a:srgbClr val="B98A87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4358488" y="352044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4E9E6"/>
          </a:solidFill>
          <a:ln w="12700">
            <a:solidFill>
              <a:srgbClr val="6F2B2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730088" y="3721608"/>
            <a:ext cx="731520" cy="73152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9" name="Image 3" descr="/tmp/claude-0/-home-claude/b5c0b2d8-6b96-57f2-ae87-5207f6463912/scratchpad/ppt_build/icons/userfriend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385876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358488" y="45262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學長／班長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看板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6720840" y="2926080"/>
            <a:ext cx="3306928" cy="594360"/>
          </a:xfrm>
          <a:prstGeom prst="line">
            <a:avLst/>
          </a:prstGeom>
          <a:noFill/>
          <a:ln w="22225">
            <a:solidFill>
              <a:srgbClr val="B98A87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8290408" y="352044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4E9E6"/>
          </a:solidFill>
          <a:ln w="12700">
            <a:solidFill>
              <a:srgbClr val="6F2B2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662008" y="3721608"/>
            <a:ext cx="731520" cy="73152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24" name="Image 4" descr="/tmp/claude-0/-home-claude/b5c0b2d8-6b96-57f2-ae87-5207f6463912/scratchpad/ppt_build/icons/usergra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9168" y="3858768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290408" y="45262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學員自己的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頁面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502920" y="55778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A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學員刷卡，或義工現場點名補登——資料進系統一次，後台、學長班長、學員三邊立刻同步。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後台功能①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6809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學員總表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2064523"/>
            <a:ext cx="7306056" cy="3414753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E4DAD3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28">
                <a:alpha val="25000"/>
              </a:srgbClr>
            </a:outerShdw>
          </a:effectLst>
        </p:spPr>
      </p:sp>
      <p:pic>
        <p:nvPicPr>
          <p:cNvPr id="5" name="Image 0" descr="/tmp/claude-0/-home-claude/b5c0b2d8-6b96-57f2-ae87-5207f6463912/scratchpad/ppt_screenshots/page4_student_l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4251"/>
            <a:ext cx="7086600" cy="31952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74251"/>
            <a:ext cx="7086600" cy="3195297"/>
          </a:xfrm>
          <a:prstGeom prst="rect">
            <a:avLst/>
          </a:prstGeom>
          <a:ln w="12700">
            <a:solidFill>
              <a:srgbClr val="E4DA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515853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A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後台管理／學員總表（正式站畫面）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863840" y="182880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9" name="Image 1" descr="/tmp/claude-0/-home-claude/b5c0b2d8-6b96-57f2-ae87-5207f6463912/scratchpad/ppt_build/icons/listalt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856" y="195681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32520" y="18013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全校一覽無遺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219456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位學員一次列出，可篩選班級組別。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7863840" y="324612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3" name="Image 2" descr="/tmp/claude-0/-home-claude/b5c0b2d8-6b96-57f2-ae87-5207f6463912/scratchpad/ppt_build/icons/chartbar_mar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337413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32520" y="3218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彈性排序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8732520" y="361188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依距結業或尚未勤學排序，重點優先看。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7863840" y="466344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7" name="Image 3" descr="/tmp/claude-0/-home-claude/b5c0b2d8-6b96-57f2-ae87-5207f6463912/scratchpad/ppt_build/icons/excel_mar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479145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32520" y="46360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一鍵匯出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8732520" y="502920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支援匯出 CSV，不用再手動謄寫資料。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後台功能②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6809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出缺勤明細與補登工具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2064523"/>
            <a:ext cx="7306056" cy="3414753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E4DAD3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28">
                <a:alpha val="25000"/>
              </a:srgbClr>
            </a:outerShdw>
          </a:effectLst>
        </p:spPr>
      </p:sp>
      <p:pic>
        <p:nvPicPr>
          <p:cNvPr id="5" name="Image 0" descr="/tmp/claude-0/-home-claude/b5c0b2d8-6b96-57f2-ae87-5207f6463912/scratchpad/ppt_screenshots/page5_edit_in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4251"/>
            <a:ext cx="7086600" cy="31952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74251"/>
            <a:ext cx="7086600" cy="3195297"/>
          </a:xfrm>
          <a:prstGeom prst="rect">
            <a:avLst/>
          </a:prstGeom>
          <a:ln w="12700">
            <a:solidFill>
              <a:srgbClr val="E4DA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515853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A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點選學員姓名即可展開的出缺勤明細（正式站畫面）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863840" y="182880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9" name="Image 1" descr="/tmp/claude-0/-home-claude/b5c0b2d8-6b96-57f2-ae87-5207f6463912/scratchpad/ppt_build/icons/calendar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856" y="195681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32520" y="18013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逐堂清楚呈現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219456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每堂出席、缺席、補課狀態一次攤開。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7863840" y="324612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3" name="Image 2" descr="/tmp/claude-0/-home-claude/b5c0b2d8-6b96-57f2-ae87-5207f6463912/scratchpad/ppt_build/icons/edit_mar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337413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32520" y="3218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直接補登修正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8732520" y="361188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行政人員可就地補登，不用另開檔案。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7863840" y="466344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7" name="Image 3" descr="/tmp/claude-0/-home-claude/b5c0b2d8-6b96-57f2-ae87-5207f6463912/scratchpad/ppt_build/icons/usercheck_mar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479145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32520" y="46360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即時反映全系統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8732520" y="502920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修改後各項統計與總表同步更新。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後台功能③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6809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班級總覽與結業風險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2064523"/>
            <a:ext cx="7306056" cy="3414753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E4DAD3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28">
                <a:alpha val="25000"/>
              </a:srgbClr>
            </a:outerShdw>
          </a:effectLst>
        </p:spPr>
      </p:sp>
      <p:pic>
        <p:nvPicPr>
          <p:cNvPr id="5" name="Image 0" descr="/tmp/claude-0/-home-claude/b5c0b2d8-6b96-57f2-ae87-5207f6463912/scratchpad/ppt_screenshots/page6_risk_tab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4251"/>
            <a:ext cx="7086600" cy="31952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74251"/>
            <a:ext cx="7086600" cy="3195297"/>
          </a:xfrm>
          <a:prstGeom prst="rect">
            <a:avLst/>
          </a:prstGeom>
          <a:ln w="12700">
            <a:solidFill>
              <a:srgbClr val="E4DA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515853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A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結業風險總表：逐生列出逾期未補堂數與燈號（正式站畫面）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863840" y="182880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9" name="Image 1" descr="/tmp/claude-0/-home-claude/b5c0b2d8-6b96-57f2-ae87-5207f6463912/scratchpad/ppt_build/icons/chartbar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856" y="195681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32520" y="18013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各班狀況一目了然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219456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紅燈、全勤、勤學人數每班一張卡片。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7863840" y="324612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3" name="Image 2" descr="/tmp/claude-0/-home-claude/b5c0b2d8-6b96-57f2-ae87-5207f6463912/scratchpad/ppt_build/icons/warn_mar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337413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32520" y="3218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紅黃燈提前示警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8732520" y="361188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逾期未補超過 3 堂亮紅燈提醒。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7863840" y="466344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7" name="Image 3" descr="/tmp/claude-0/-home-claude/b5c0b2d8-6b96-57f2-ae87-5207f6463912/scratchpad/ppt_build/icons/usercheck_mar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479145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32520" y="46360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及早介入輔導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8732520" y="502920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結業前及早關心，不必等到最後一刻。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後台功能④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6809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堂次彈性調整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2064523"/>
            <a:ext cx="7306056" cy="3414753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E4DAD3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28">
                <a:alpha val="25000"/>
              </a:srgbClr>
            </a:outerShdw>
          </a:effectLst>
        </p:spPr>
      </p:sp>
      <p:pic>
        <p:nvPicPr>
          <p:cNvPr id="5" name="Image 0" descr="/tmp/claude-0/-home-claude/b5c0b2d8-6b96-57f2-ae87-5207f6463912/scratchpad/ppt_screenshots/page7_session_manage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4251"/>
            <a:ext cx="7086600" cy="31952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74251"/>
            <a:ext cx="7086600" cy="3195297"/>
          </a:xfrm>
          <a:prstGeom prst="rect">
            <a:avLst/>
          </a:prstGeom>
          <a:ln w="12700">
            <a:solidFill>
              <a:srgbClr val="E4DA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515853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A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班別設定／堂次管理：可整批順延或個別改期（正式站畫面）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863840" y="182880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9" name="Image 1" descr="/tmp/claude-0/-home-claude/b5c0b2d8-6b96-57f2-ae87-5207f6463912/scratchpad/ppt_build/icons/calendar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856" y="195681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32520" y="18013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個別調整日期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219456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遇停課因素，單堂日期可直接修改。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7863840" y="324612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3" name="Image 2" descr="/tmp/claude-0/-home-claude/b5c0b2d8-6b96-57f2-ae87-5207f6463912/scratchpad/ppt_build/icons/sync_mar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337413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32520" y="3218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整批順延處理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8732520" y="361188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全班停課一次，不用逐堂搬移日期。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7863840" y="466344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7" name="Image 3" descr="/tmp/claude-0/-home-claude/b5c0b2d8-6b96-57f2-ae87-5207f6463912/scratchpad/ppt_build/icons/chartbar_mar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479145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32520" y="46360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堂數自動連動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8732520" y="502920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調整後結業所需堂數自動重算。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學長／班長使用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6809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學長／班長看板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2064523"/>
            <a:ext cx="7306056" cy="3414753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E4DAD3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28">
                <a:alpha val="25000"/>
              </a:srgbClr>
            </a:outerShdw>
          </a:effectLst>
        </p:spPr>
      </p:sp>
      <p:pic>
        <p:nvPicPr>
          <p:cNvPr id="5" name="Image 0" descr="/tmp/claude-0/-home-claude/b5c0b2d8-6b96-57f2-ae87-5207f6463912/scratchpad/ppt_screenshots/page8_leader_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4251"/>
            <a:ext cx="7086600" cy="31952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74251"/>
            <a:ext cx="7086600" cy="3195297"/>
          </a:xfrm>
          <a:prstGeom prst="rect">
            <a:avLst/>
          </a:prstGeom>
          <a:ln w="12700">
            <a:solidFill>
              <a:srgbClr val="E4DA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515853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A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登入後即可看到本班即時統計（正式站畫面）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863840" y="182880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9" name="Image 1" descr="/tmp/claude-0/-home-claude/b5c0b2d8-6b96-57f2-ae87-5207f6463912/scratchpad/ppt_build/icons/mobile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856" y="195681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32520" y="18013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免安裝、手機可用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219456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輸入學員編號，手機瀏覽器即可查看。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7863840" y="324612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3" name="Image 2" descr="/tmp/claude-0/-home-claude/b5c0b2d8-6b96-57f2-ae87-5207f6463912/scratchpad/ppt_build/icons/chartbar_mar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337413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32520" y="3218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班級狀況即時掌握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8732520" y="361188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出席率、全勤、勤學人數一眼看完。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7863840" y="466344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7" name="Image 3" descr="/tmp/claude-0/-home-claude/b5c0b2d8-6b96-57f2-ae87-5207f6463912/scratchpad/ppt_build/icons/warn_mar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479145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32520" y="46360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自動列出關懷名單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8732520" y="502920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系統自動抓出缺課超過 3 堂的學員。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學員使用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6809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學員自己的頁面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2064523"/>
            <a:ext cx="7306056" cy="3414753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E4DAD3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28">
                <a:alpha val="25000"/>
              </a:srgbClr>
            </a:outerShdw>
          </a:effectLst>
        </p:spPr>
      </p:sp>
      <p:pic>
        <p:nvPicPr>
          <p:cNvPr id="5" name="Image 0" descr="/tmp/claude-0/-home-claude/b5c0b2d8-6b96-57f2-ae87-5207f6463912/scratchpad/ppt_screenshots/page9_student_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4251"/>
            <a:ext cx="7086600" cy="31952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74251"/>
            <a:ext cx="7086600" cy="3195297"/>
          </a:xfrm>
          <a:prstGeom prst="rect">
            <a:avLst/>
          </a:prstGeom>
          <a:ln w="12700">
            <a:solidFill>
              <a:srgbClr val="E4DA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515853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A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學員登入後可查詢自己的出缺勤與結業進度（正式站畫面）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863840" y="182880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9" name="Image 1" descr="/tmp/claude-0/-home-claude/b5c0b2d8-6b96-57f2-ae87-5207f6463912/scratchpad/ppt_build/icons/chartbar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856" y="195681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32520" y="18013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進度條一看就懂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219456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出席補課堂數化成進度條看結業標準。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7863840" y="324612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3" name="Image 2" descr="/tmp/claude-0/-home-claude/b5c0b2d8-6b96-57f2-ae87-5207f6463912/scratchpad/ppt_build/icons/listalt_mar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337413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32520" y="3218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隨時查詢明細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8732520" y="361188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點一下即可看到逐堂完整紀錄。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7863840" y="4663440"/>
            <a:ext cx="640080" cy="640080"/>
          </a:xfrm>
          <a:prstGeom prst="ellipse">
            <a:avLst/>
          </a:prstGeom>
          <a:solidFill>
            <a:srgbClr val="6F2B2C"/>
          </a:solidFill>
          <a:ln/>
        </p:spPr>
      </p:sp>
      <p:pic>
        <p:nvPicPr>
          <p:cNvPr id="17" name="Image 3" descr="/tmp/claude-0/-home-claude/b5c0b2d8-6b96-57f2-ae87-5207f6463912/scratchpad/ppt_build/icons/usercheck_mar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479145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32520" y="46360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自主管理不用催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8732520" y="5029200"/>
            <a:ext cx="2971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自己就能掌握還差幾堂才能結業。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帶來的改變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6809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對精舍、學長班長、學員的好處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4572000"/>
          </a:xfrm>
          <a:prstGeom prst="roundRect">
            <a:avLst>
              <a:gd name="adj" fmla="val 2597"/>
            </a:avLst>
          </a:prstGeom>
          <a:solidFill>
            <a:srgbClr val="F4E9E6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19202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claude/b5c0b2d8-6b96-57f2-ae87-5207f6463912/scratchpad/ppt_build/icons/landmark_mar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824" y="2066544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85292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對精舍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3520440"/>
            <a:ext cx="29352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行政資料透明、決策有據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紅黃燈提前示警、及早介入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減少人工核對與謄寫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20440" cy="4572000"/>
          </a:xfrm>
          <a:prstGeom prst="roundRect">
            <a:avLst>
              <a:gd name="adj" fmla="val 2597"/>
            </a:avLst>
          </a:prstGeom>
          <a:solidFill>
            <a:srgbClr val="6F2B2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0" y="19202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laude-0/-home-claude/b5c0b2d8-6b96-57f2-ae87-5207f6463912/scratchpad/ppt_build/icons/teacher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2066544"/>
            <a:ext cx="484632" cy="4846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97680" y="285292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對學長／班長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590288" y="3520440"/>
            <a:ext cx="29352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手機隨時掌握本班狀況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自動列出需要關懷的名單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減少反覆催補課的溝通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8092440" y="1554480"/>
            <a:ext cx="3520440" cy="4572000"/>
          </a:xfrm>
          <a:prstGeom prst="roundRect">
            <a:avLst>
              <a:gd name="adj" fmla="val 2597"/>
            </a:avLst>
          </a:prstGeom>
          <a:solidFill>
            <a:srgbClr val="F4E9E6"/>
          </a:solidFill>
          <a:ln/>
        </p:spPr>
      </p:sp>
      <p:sp>
        <p:nvSpPr>
          <p:cNvPr id="15" name="Shape 11"/>
          <p:cNvSpPr/>
          <p:nvPr/>
        </p:nvSpPr>
        <p:spPr>
          <a:xfrm>
            <a:off x="9464040" y="19202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tmp/claude-0/-home-claude/b5c0b2d8-6b96-57f2-ae87-5207f6463912/scratchpad/ppt_build/icons/usergrad_mar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344" y="2066544"/>
            <a:ext cx="484632" cy="4846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92440" y="285292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對學員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385048" y="3520440"/>
            <a:ext cx="29352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自己的進度隨時查得到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清楚知道還差幾堂結業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養成自主管理補課習慣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F2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023360"/>
            <a:ext cx="5943600" cy="5943600"/>
          </a:xfrm>
          <a:prstGeom prst="ellipse">
            <a:avLst/>
          </a:prstGeom>
          <a:solidFill>
            <a:srgbClr val="4A1C1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02920"/>
            <a:ext cx="777240" cy="77724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4" name="Image 0" descr="/tmp/claude-0/-home-claude/b5c0b2d8-6b96-57f2-ae87-5207f6463912/scratchpad/ppt_build/icons/roa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6675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1417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結語與後續規劃</a:t>
            </a:r>
            <a:endParaRPr lang="en-US" sz="3600" dirty="0"/>
          </a:p>
        </p:txBody>
      </p:sp>
      <p:pic>
        <p:nvPicPr>
          <p:cNvPr id="6" name="Image 1" descr="/tmp/claude-0/-home-claude/b5c0b2d8-6b96-57f2-ae87-5207f6463912/scratchpad/ppt_build/icons/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0008"/>
            <a:ext cx="420624" cy="4206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23317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已於 2026 年 9 月正式上線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1417320" y="275234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三個介面都已在運作中，持續依使用情況優化。</a:t>
            </a:r>
            <a:endParaRPr lang="en-US" sz="2000" dirty="0"/>
          </a:p>
        </p:txBody>
      </p:sp>
      <p:pic>
        <p:nvPicPr>
          <p:cNvPr id="9" name="Image 2" descr="/tmp/claude-0/-home-claude/b5c0b2d8-6b96-57f2-ae87-5207f6463912/scratchpad/ppt_build/icons/bullhorn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48456"/>
            <a:ext cx="420624" cy="4206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17320" y="36301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持續蒐集使用回饋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1417320" y="405079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精舍、學長班長、學員的意見會陸續反映調整。</a:t>
            </a:r>
            <a:endParaRPr lang="en-US" sz="2000" dirty="0"/>
          </a:p>
        </p:txBody>
      </p:sp>
      <p:pic>
        <p:nvPicPr>
          <p:cNvPr id="12" name="Image 3" descr="/tmp/claude-0/-home-claude/b5c0b2d8-6b96-57f2-ae87-5207f6463912/scratchpad/ppt_build/icons/bulb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46904"/>
            <a:ext cx="420624" cy="42062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17320" y="49286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後續規劃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1417320" y="5349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更完整的統計圖表、到期提醒等功能陸續導入。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822960" y="63550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　歡迎提供使用意見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2026-09-11T04:45:50Z</dcterms:created>
  <dcterms:modified xsi:type="dcterms:W3CDTF">2026-09-11T04:45:50Z</dcterms:modified>
</cp:coreProperties>
</file>